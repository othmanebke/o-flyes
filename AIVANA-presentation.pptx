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280160" cy="0"/>
          </a:xfrm>
          <a:prstGeom prst="line">
            <a:avLst/>
          </a:prstGeom>
          <a:noFill/>
          <a:ln w="25400">
            <a:solidFill>
              <a:srgbClr val="D4AF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331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O-FLYES  ·  RNCP 39583  ·  BLOC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265176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AIVANA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Coordonner et piloter un projet de développement d'applications logicielles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Othmane Bouakline  —  Expert en Développement Logiciel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Cette présentation suit la grille du Bloc 3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87752" cy="1188720"/>
          </a:xfrm>
          <a:prstGeom prst="roundRect">
            <a:avLst>
              <a:gd name="adj" fmla="val 4615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09397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C3.1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04672" y="249631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Méthodologie &amp; planification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10712" y="1965960"/>
            <a:ext cx="2587752" cy="1188720"/>
          </a:xfrm>
          <a:prstGeom prst="roundRect">
            <a:avLst>
              <a:gd name="adj" fmla="val 4615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75304" y="209397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C3.2.1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75304" y="249631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Suivi de l'avancement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965960"/>
            <a:ext cx="2587752" cy="1188720"/>
          </a:xfrm>
          <a:prstGeom prst="roundRect">
            <a:avLst>
              <a:gd name="adj" fmla="val 4615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45936" y="209397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C3.2.2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45936" y="249631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Arbitrage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51976" y="1965960"/>
            <a:ext cx="2587752" cy="1188720"/>
          </a:xfrm>
          <a:prstGeom prst="roundRect">
            <a:avLst>
              <a:gd name="adj" fmla="val 4615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16568" y="209397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C3.3.1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116568" y="249631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Pilotage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2587752" cy="1188720"/>
          </a:xfrm>
          <a:prstGeom prst="roundRect">
            <a:avLst>
              <a:gd name="adj" fmla="val 4615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51129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C3.3.2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04672" y="391363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Compétences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10712" y="3383280"/>
            <a:ext cx="2587752" cy="1188720"/>
          </a:xfrm>
          <a:prstGeom prst="roundRect">
            <a:avLst>
              <a:gd name="adj" fmla="val 4615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75304" y="351129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C3.4.1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575304" y="391363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Comptes rendus &amp; validation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81344" y="3383280"/>
            <a:ext cx="2587752" cy="1188720"/>
          </a:xfrm>
          <a:prstGeom prst="roundRect">
            <a:avLst>
              <a:gd name="adj" fmla="val 4615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3511296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C3.4.2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345936" y="391363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Démonstration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CONTEXTE DU PROJET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AIVANA, en une phrase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10149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chatbot qui comprend un budget et des dates, et propose des destinations avec de </a:t>
            </a:r>
            <a:pPr indent="0" marL="0">
              <a:buNone/>
            </a:pPr>
            <a:r>
              <a:rPr lang="en-US" sz="2100" b="1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vrais prix</a:t>
            </a:r>
            <a:pPr indent="0" marL="0">
              <a:buNone/>
            </a:pPr>
            <a:r>
              <a:rPr lang="en-US" sz="21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jamais inventés.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40080" y="32918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1B2338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4290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1422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+ dates → propositions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29000" y="32918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1B2338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34290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Prix réels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11880" y="41422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vols / hôtels récupérés en direct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32918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1B2338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34290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Organisation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41422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ajout au voyage, suivi du budget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06840" y="32918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1B2338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9720" y="34290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89720" y="3840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Roadtrip 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89720" y="414223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itinéraire généré automatiquement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937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Solo, en ~5 mois (20 fév. → 29 juil. 2026) — en ligne : aivanaflyes.vercel.app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014984" cy="329184"/>
          </a:xfrm>
          <a:prstGeom prst="roundRect">
            <a:avLst>
              <a:gd name="adj" fmla="val 50000"/>
            </a:avLst>
          </a:prstGeom>
          <a:solidFill>
            <a:srgbClr val="161D2E"/>
          </a:solidFill>
          <a:ln w="12700">
            <a:solidFill>
              <a:srgbClr val="D4AF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014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883664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MÉTHODOLOGIE &amp; PLANIFICATION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méthode agile allégée, adaptée au solo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3502152" cy="3246120"/>
          </a:xfrm>
          <a:prstGeom prst="roundRect">
            <a:avLst>
              <a:gd name="adj" fmla="val 1690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377440"/>
            <a:ext cx="457200" cy="0"/>
          </a:xfrm>
          <a:prstGeom prst="line">
            <a:avLst/>
          </a:prstGeom>
          <a:noFill/>
          <a:ln w="25400">
            <a:solidFill>
              <a:srgbClr val="D4A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4871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Méthode choisie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96112" y="2980944"/>
            <a:ext cx="299923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Agile, sans cadre lourd type Scrum — pas d'équipe à coordonner. Le travail est découpé en petites livraisons, 224 au total, chacune typée : fonctionnalité, correctif, nettoyage, doc, test.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25112" y="2103120"/>
            <a:ext cx="3502152" cy="3246120"/>
          </a:xfrm>
          <a:prstGeom prst="roundRect">
            <a:avLst>
              <a:gd name="adj" fmla="val 1690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2377440"/>
            <a:ext cx="457200" cy="0"/>
          </a:xfrm>
          <a:prstGeom prst="line">
            <a:avLst/>
          </a:prstGeom>
          <a:noFill/>
          <a:ln w="25400">
            <a:solidFill>
              <a:srgbClr val="D4AF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81144" y="24871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Outil de planification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81144" y="2980944"/>
            <a:ext cx="299923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 de Gantt figé à l'avance, qui aurait été faux au bout d'une semaine. L'historique Git sert d'outil de planification et de suivi, adapté à un périmètre qui bougeait selon les retours jury.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10144" y="2103120"/>
            <a:ext cx="3502152" cy="3246120"/>
          </a:xfrm>
          <a:prstGeom prst="roundRect">
            <a:avLst>
              <a:gd name="adj" fmla="val 1690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66176" y="2377440"/>
            <a:ext cx="457200" cy="0"/>
          </a:xfrm>
          <a:prstGeom prst="line">
            <a:avLst/>
          </a:prstGeom>
          <a:noFill/>
          <a:ln w="25400">
            <a:solidFill>
              <a:srgbClr val="D4AF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66176" y="24871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Phases identifiées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66176" y="2980944"/>
            <a:ext cx="299923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Socle technique → crise et arbitrage d'architecture → fonctionnalités clés → sprint IA intensif → mission qualité (tests, sécurité) → finitions. Chaque phase est datée et tracée.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4864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de vigilance : en solo, pas de revue de code croisée — compensé par des tests automatisés et une documentation de sécurité écrite a posteriori.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271016" cy="329184"/>
          </a:xfrm>
          <a:prstGeom prst="roundRect">
            <a:avLst>
              <a:gd name="adj" fmla="val 50000"/>
            </a:avLst>
          </a:prstGeom>
          <a:solidFill>
            <a:srgbClr val="161D2E"/>
          </a:solidFill>
          <a:ln w="12700">
            <a:solidFill>
              <a:srgbClr val="D4AF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271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C3.2.1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139696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SUIVI DE L'AVANCEMENT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Piloter sans outil de planning dédié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INDICATEURS SUIVIS EN CONTINU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45059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Avancement fonctionnel : la fonctionnalité marche-t-elle de bout en bout 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86207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Fiabilité : le déploiement passe-t-il, les tests sont-ils au vert 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273552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Délai : budget de temps sur 5 mois, phases intenses et phases calmes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déploiement continu sur Vercel sert d'alarme immédiate : si le site casse en ligne, c'est visible tout de suite.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92240" y="2057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TABLEAU DE BORD, EN CHIFFRES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2450592"/>
            <a:ext cx="1261872" cy="1143000"/>
          </a:xfrm>
          <a:prstGeom prst="roundRect">
            <a:avLst>
              <a:gd name="adj" fmla="val 4800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560320"/>
            <a:ext cx="12618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37960" y="3209544"/>
            <a:ext cx="11704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863840" y="2450592"/>
            <a:ext cx="1261872" cy="1143000"/>
          </a:xfrm>
          <a:prstGeom prst="roundRect">
            <a:avLst>
              <a:gd name="adj" fmla="val 4800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0" y="2560320"/>
            <a:ext cx="12618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909560" y="3209544"/>
            <a:ext cx="11704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routes API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235440" y="2450592"/>
            <a:ext cx="1261872" cy="1143000"/>
          </a:xfrm>
          <a:prstGeom prst="roundRect">
            <a:avLst>
              <a:gd name="adj" fmla="val 4800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35440" y="2560320"/>
            <a:ext cx="12618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81160" y="3209544"/>
            <a:ext cx="11704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verts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607040" y="2450592"/>
            <a:ext cx="1261872" cy="1143000"/>
          </a:xfrm>
          <a:prstGeom prst="roundRect">
            <a:avLst>
              <a:gd name="adj" fmla="val 4800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0" y="2560320"/>
            <a:ext cx="12618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652760" y="3209544"/>
            <a:ext cx="11704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92240" y="37947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un rapport technique complet rédigé à mi-parcours, comme photo de l'état du projet à date.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271016" cy="329184"/>
          </a:xfrm>
          <a:prstGeom prst="roundRect">
            <a:avLst>
              <a:gd name="adj" fmla="val 50000"/>
            </a:avLst>
          </a:prstGeom>
          <a:solidFill>
            <a:srgbClr val="161D2E"/>
          </a:solidFill>
          <a:ln w="12700">
            <a:solidFill>
              <a:srgbClr val="D4AF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271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C3.2.2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139696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ARBITRAGE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microservices → 1 application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PROBLÈME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éclatée en 9 services, déployés sur un hébergeur gratuit : conflits de ports et échecs de déploiement en boucle fin février, jusqu'à revenir en arrière une fois.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DÉCISION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09360" y="2331720"/>
            <a:ext cx="5212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Regrouper les 9 services en une seule application (« monolithe »). Migration en quelques jours début mars, avant la poursuite du développement.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10881360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RÉSULTAT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443484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Déploiement stabilisé pour le reste du projet — la simplicité a été préférée à la scalabilité théorique, au bon moment du projet.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5257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AUTRE EXEMPLE — plus produit : le chatbot inventait parfois des prix (hallucination). Décision : il ne propose plus que des idées, jamais de prix — les prix réels sont toujours récupérés à part.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271016" cy="329184"/>
          </a:xfrm>
          <a:prstGeom prst="roundRect">
            <a:avLst>
              <a:gd name="adj" fmla="val 50000"/>
            </a:avLst>
          </a:prstGeom>
          <a:solidFill>
            <a:srgbClr val="161D2E"/>
          </a:solidFill>
          <a:ln w="12700">
            <a:solidFill>
              <a:srgbClr val="D4AF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271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C3.3.1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139696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PILOTAGE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Piloter un projet... seul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3502152" cy="3520440"/>
          </a:xfrm>
          <a:prstGeom prst="roundRect">
            <a:avLst>
              <a:gd name="adj" fmla="val 1567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377440"/>
            <a:ext cx="457200" cy="0"/>
          </a:xfrm>
          <a:prstGeom prst="line">
            <a:avLst/>
          </a:prstGeom>
          <a:noFill/>
          <a:ln w="25400">
            <a:solidFill>
              <a:srgbClr val="D4A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Style envers moi-même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6112" y="3035808"/>
            <a:ext cx="2999232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Plutôt « directif » : des règles strictes et non négociables — toujours préfixer les commits par type, toujours garder une version qui fonctionne avant de commencer une nouvelle fonctionnalité.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25112" y="2103120"/>
            <a:ext cx="3502152" cy="3520440"/>
          </a:xfrm>
          <a:prstGeom prst="roundRect">
            <a:avLst>
              <a:gd name="adj" fmla="val 1567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2377440"/>
            <a:ext cx="457200" cy="0"/>
          </a:xfrm>
          <a:prstGeom prst="line">
            <a:avLst/>
          </a:prstGeom>
          <a:noFill/>
          <a:ln w="25400">
            <a:solidFill>
              <a:srgbClr val="D4AF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81144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Délégation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1144" y="3035808"/>
            <a:ext cx="2999232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Plutôt « délégatif » sur les tâches répétitives : usage d'outils d'IA comme assistants de code pour les refactors mécaniques, ce qui a libéré du temps pour les décisions produit.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10144" y="2103120"/>
            <a:ext cx="3502152" cy="3520440"/>
          </a:xfrm>
          <a:prstGeom prst="roundRect">
            <a:avLst>
              <a:gd name="adj" fmla="val 1567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66176" y="2377440"/>
            <a:ext cx="457200" cy="0"/>
          </a:xfrm>
          <a:prstGeom prst="line">
            <a:avLst/>
          </a:prstGeom>
          <a:noFill/>
          <a:ln w="25400">
            <a:solidFill>
              <a:srgbClr val="D4AF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6617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 j'avais eu une équipe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66176" y="3035808"/>
            <a:ext cx="2999232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Répartition par pôles naturels du code : front/UI, intégrations API externes, IA/chatbot, sécurité/données — une matrice RACI simple, avec moi responsable et redevable de l'ensemble.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271016" cy="329184"/>
          </a:xfrm>
          <a:prstGeom prst="roundRect">
            <a:avLst>
              <a:gd name="adj" fmla="val 50000"/>
            </a:avLst>
          </a:prstGeom>
          <a:solidFill>
            <a:srgbClr val="161D2E"/>
          </a:solidFill>
          <a:ln w="12700">
            <a:solidFill>
              <a:srgbClr val="D4AF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271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C3.3.2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139696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COMPÉTENCES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Repérer un manque, et le combler avant la fin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MANQUE IDENTIFIÉ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départ, sécurité base de données et tests automatisés mal maîtrisés — le projet a tourné plusieurs mois sans un seul test.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0574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MONTÉE EN COMPÉTENCE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09360" y="237744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Formation en autonomie via la documentation officielle, puis application directe sur le code existant.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881360" cy="0"/>
          </a:xfrm>
          <a:prstGeom prst="line">
            <a:avLst/>
          </a:prstGeom>
          <a:noFill/>
          <a:ln w="12700">
            <a:solidFill>
              <a:srgbClr val="2A33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23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RÉSULTAT — DÉBUT JUIN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Sécurité (RLS) documentée en commentaires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47731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14 tests ajoutés sur les fonctions les plus sensibles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5721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Rapport technique complet rédigé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271016" cy="329184"/>
          </a:xfrm>
          <a:prstGeom prst="roundRect">
            <a:avLst>
              <a:gd name="adj" fmla="val 50000"/>
            </a:avLst>
          </a:prstGeom>
          <a:solidFill>
            <a:srgbClr val="161D2E"/>
          </a:solidFill>
          <a:ln w="12700">
            <a:solidFill>
              <a:srgbClr val="D4AF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271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C3.4.1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139696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COMPTES RENDUS &amp; VALIDATION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jury, en guise de commanditaire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client commercial externe, le rôle de commanditaire a été tenu par le jury et les évaluations de bloc, à des dates de passage fixées.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POINTS DE VALIDATION DATÉS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31012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mars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920240" y="3310128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de présentation de fin d'année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mai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3749040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Préparation d'un pitch dédié pour un passage jury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4187952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juin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4187952"/>
            <a:ext cx="9509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Rapport technique complet (architecture, sécurité, tests)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rapport technique fonctionne comme un vrai compte-rendu factuel — pas une intention, l'état réel du code, vérifié.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271016" cy="329184"/>
          </a:xfrm>
          <a:prstGeom prst="roundRect">
            <a:avLst>
              <a:gd name="adj" fmla="val 50000"/>
            </a:avLst>
          </a:prstGeom>
          <a:solidFill>
            <a:srgbClr val="161D2E"/>
          </a:solidFill>
          <a:ln w="12700">
            <a:solidFill>
              <a:srgbClr val="D4AF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1271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C3.4.2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139696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qui va suivre, à l'écran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2606040" cy="1554480"/>
          </a:xfrm>
          <a:prstGeom prst="roundRect">
            <a:avLst>
              <a:gd name="adj" fmla="val 3529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402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670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Connexion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29718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compte utilisateur sécurisé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2103120"/>
            <a:ext cx="2606040" cy="1554480"/>
          </a:xfrm>
          <a:prstGeom prst="roundRect">
            <a:avLst>
              <a:gd name="adj" fmla="val 3529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22402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11880" y="2670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Chatbot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11880" y="29718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+ dates → destinations, prix réels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103120"/>
            <a:ext cx="2606040" cy="1554480"/>
          </a:xfrm>
          <a:prstGeom prst="roundRect">
            <a:avLst>
              <a:gd name="adj" fmla="val 3529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2402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670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Voyage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29718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ajout de vols / hôtels / activités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06840" y="2103120"/>
            <a:ext cx="2606040" cy="1554480"/>
          </a:xfrm>
          <a:prstGeom prst="roundRect">
            <a:avLst>
              <a:gd name="adj" fmla="val 3529"/>
            </a:avLst>
          </a:prstGeom>
          <a:solidFill>
            <a:srgbClr val="161D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89720" y="22402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7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89720" y="26700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189720" y="29718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 suivi + itinéraire généré par l'IA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9319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61D2E"/>
          </a:solidFill>
          <a:ln w="12700">
            <a:solidFill>
              <a:srgbClr val="D4AF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9319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4AF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aivanaflyes.vercel.app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40080" y="516636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B assumé : certaines limites sont des choix de périmètre volontaires (ex. connexion Gmail/Outlook non branchée) — je le dis simplement si le sujet arrive.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OÙ EN EST LE PROJET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Bilan &amp; perspectives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ACQUIS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Chatbot IA + prix réels vols/hôtels/activités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80720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Tableau de bord budget &amp; réservations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19125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Comptes utilisateurs sécurisés, isolés par utilisateur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57530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14 tests automatisés sur les calculs critiques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PERSPECTIVES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24231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Connexion Gmail / Outlook (scope volontairement reporté)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280720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Paiement en ligne (SDK déjà en place, non branché)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19125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 Élargissement des tests automatisés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RNCP 39583 · Bloc 3 — Coordonner et piloter un projet de développement d'applications logicielles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448495" y="6400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— BLOC 3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880360"/>
            <a:ext cx="1280160" cy="0"/>
          </a:xfrm>
          <a:prstGeom prst="line">
            <a:avLst/>
          </a:prstGeom>
          <a:noFill/>
          <a:ln w="25400">
            <a:solidFill>
              <a:srgbClr val="D4AF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EEF1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7B0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 questions 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54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AIVANA  —  aivanaflyes.vercel.app  —  Othmane Bouakline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AIVANA — Bloc 3 — Coordonner et piloter un projet</dc:title>
  <dc:subject>PptxGenJS Presentation</dc:subject>
  <dc:creator>Othmane Bouakline</dc:creator>
  <cp:lastModifiedBy>Othmane Bouakline</cp:lastModifiedBy>
  <cp:revision>1</cp:revision>
  <dcterms:created xsi:type="dcterms:W3CDTF">2026-09-08T19:29:29Z</dcterms:created>
  <dcterms:modified xsi:type="dcterms:W3CDTF">2026-09-08T19:29:29Z</dcterms:modified>
</cp:coreProperties>
</file>